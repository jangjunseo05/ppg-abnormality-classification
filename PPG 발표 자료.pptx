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21"/>
  </p:notesMasterIdLst>
  <p:sldIdLst>
    <p:sldId id="1909" r:id="rId2"/>
    <p:sldId id="1937" r:id="rId3"/>
    <p:sldId id="1910" r:id="rId4"/>
    <p:sldId id="1994" r:id="rId5"/>
    <p:sldId id="2009" r:id="rId6"/>
    <p:sldId id="2005" r:id="rId7"/>
    <p:sldId id="2007" r:id="rId8"/>
    <p:sldId id="2008" r:id="rId9"/>
    <p:sldId id="2006" r:id="rId10"/>
    <p:sldId id="2015" r:id="rId11"/>
    <p:sldId id="2014" r:id="rId12"/>
    <p:sldId id="2016" r:id="rId13"/>
    <p:sldId id="2011" r:id="rId14"/>
    <p:sldId id="2017" r:id="rId15"/>
    <p:sldId id="2013" r:id="rId16"/>
    <p:sldId id="2018" r:id="rId17"/>
    <p:sldId id="2012" r:id="rId18"/>
    <p:sldId id="2019" r:id="rId19"/>
    <p:sldId id="2021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B93886-837A-4942-A914-9B1D6F24A83F}">
          <p14:sldIdLst>
            <p14:sldId id="1909"/>
            <p14:sldId id="1937"/>
            <p14:sldId id="1910"/>
            <p14:sldId id="1994"/>
            <p14:sldId id="2009"/>
            <p14:sldId id="2005"/>
            <p14:sldId id="2007"/>
            <p14:sldId id="2008"/>
            <p14:sldId id="2006"/>
            <p14:sldId id="2015"/>
            <p14:sldId id="2014"/>
            <p14:sldId id="2016"/>
            <p14:sldId id="2011"/>
            <p14:sldId id="2017"/>
            <p14:sldId id="2013"/>
            <p14:sldId id="2018"/>
            <p14:sldId id="2012"/>
            <p14:sldId id="2019"/>
            <p14:sldId id="20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FBE"/>
    <a:srgbClr val="10305B"/>
    <a:srgbClr val="10315B"/>
    <a:srgbClr val="FF7D41"/>
    <a:srgbClr val="3DACFF"/>
    <a:srgbClr val="3D3D3D"/>
    <a:srgbClr val="F19B24"/>
    <a:srgbClr val="BD382F"/>
    <a:srgbClr val="1DA084"/>
    <a:srgbClr val="274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80565" autoAdjust="0"/>
  </p:normalViewPr>
  <p:slideViewPr>
    <p:cSldViewPr snapToGrid="0">
      <p:cViewPr varScale="1">
        <p:scale>
          <a:sx n="81" d="100"/>
          <a:sy n="81" d="100"/>
        </p:scale>
        <p:origin x="12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072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172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FF818-1849-4314-A05F-3D4F45BD2B41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FA824-1425-43B6-B4D5-774CF6898B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57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KR" dirty="0"/>
              <a:t>OSS(</a:t>
            </a:r>
            <a:r>
              <a:rPr lang="ko-KR" altLang="en-US" dirty="0"/>
              <a:t>교육원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이론</a:t>
            </a:r>
            <a:r>
              <a:rPr lang="en-US" altLang="ko-KR" dirty="0"/>
              <a:t> 01</a:t>
            </a:r>
            <a:r>
              <a:rPr lang="ko-KR" altLang="en-US" dirty="0"/>
              <a:t>주차 </a:t>
            </a:r>
            <a:endParaRPr lang="en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242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63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935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90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179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353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487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448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588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623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504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57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640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06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FA824-1425-43B6-B4D5-774CF6898B1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46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43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01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30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2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2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2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2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6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5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22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088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9"/>
          <p:cNvSpPr/>
          <p:nvPr userDrawn="1"/>
        </p:nvSpPr>
        <p:spPr>
          <a:xfrm>
            <a:off x="0" y="0"/>
            <a:ext cx="9156480" cy="3750829"/>
          </a:xfrm>
          <a:prstGeom prst="rect">
            <a:avLst/>
          </a:prstGeom>
          <a:gradFill flip="none" rotWithShape="0">
            <a:gsLst>
              <a:gs pos="0">
                <a:srgbClr val="002452">
                  <a:alpha val="98000"/>
                </a:srgbClr>
              </a:gs>
              <a:gs pos="80000">
                <a:srgbClr val="002452">
                  <a:alpha val="70000"/>
                </a:srgbClr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98240" y="1393831"/>
            <a:ext cx="7560000" cy="1944456"/>
          </a:xfrm>
        </p:spPr>
        <p:txBody>
          <a:bodyPr anchor="b">
            <a:normAutofit/>
          </a:bodyPr>
          <a:lstStyle>
            <a:lvl1pPr algn="ctr">
              <a:defRPr sz="3200" b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ko-KR" dirty="0"/>
              <a:t>[ Introduction to slide subject ] 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798240" y="4622800"/>
            <a:ext cx="7560000" cy="820057"/>
          </a:xfrm>
        </p:spPr>
        <p:txBody>
          <a:bodyPr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altLang="ko-KR" sz="1500" b="1" baseline="0" smtClean="0">
                <a:solidFill>
                  <a:srgbClr val="3D3D3D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algn="r"/>
            <a:r>
              <a:rPr lang="en-US" altLang="ko-KR" sz="1800" b="0" dirty="0">
                <a:solidFill>
                  <a:srgbClr val="3E3E3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Hyeryung Jang</a:t>
            </a:r>
            <a:endParaRPr lang="en-US" altLang="ko-KR" sz="1500" b="0" dirty="0">
              <a:solidFill>
                <a:srgbClr val="F14B09"/>
              </a:solidFill>
              <a:latin typeface="+mn-lt"/>
              <a:cs typeface="Calibri Light" panose="020F0302020204030204" pitchFamily="34" charset="0"/>
            </a:endParaRPr>
          </a:p>
          <a:p>
            <a:pPr algn="r"/>
            <a:r>
              <a:rPr lang="en-US" altLang="ko-KR" sz="1800" b="0" dirty="0"/>
              <a:t>Basic info of presenter</a:t>
            </a:r>
            <a:endParaRPr lang="ko-KR" altLang="en-US" sz="1800" b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2BED4-9B49-4C46-A65F-95282EAB52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B3354-823F-564F-894F-2F81393B29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35190" y="6356351"/>
            <a:ext cx="30861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776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92000" y="1393831"/>
            <a:ext cx="7560000" cy="1944456"/>
          </a:xfrm>
        </p:spPr>
        <p:txBody>
          <a:bodyPr anchor="b">
            <a:normAutofit/>
          </a:bodyPr>
          <a:lstStyle>
            <a:lvl1pPr algn="ctr">
              <a:defRPr sz="3000" b="1" baseline="0">
                <a:solidFill>
                  <a:srgbClr val="3D3D3D"/>
                </a:solidFill>
                <a:latin typeface="+mj-lt"/>
              </a:defRPr>
            </a:lvl1pPr>
          </a:lstStyle>
          <a:p>
            <a:r>
              <a:rPr lang="en-US" altLang="ko-KR" dirty="0"/>
              <a:t>[ Introduction to slide subject ] 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792000" y="4241522"/>
            <a:ext cx="7560000" cy="1779104"/>
          </a:xfrm>
        </p:spPr>
        <p:txBody>
          <a:bodyPr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altLang="ko-KR" sz="1800" b="1" baseline="0" smtClean="0">
                <a:solidFill>
                  <a:srgbClr val="3D3D3D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algn="r"/>
            <a:r>
              <a:rPr lang="en-US" altLang="ko-KR" sz="1800" b="0" dirty="0">
                <a:solidFill>
                  <a:srgbClr val="3E3E3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Hyeryung Jang </a:t>
            </a:r>
          </a:p>
          <a:p>
            <a:pPr algn="r"/>
            <a:r>
              <a:rPr lang="en-US" altLang="ko-KR" sz="1800" b="0" dirty="0"/>
              <a:t>Basic info of presenter</a:t>
            </a:r>
            <a:endParaRPr lang="ko-KR" altLang="en-US" sz="1800" b="0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0784B5BB-CC48-7B4C-A241-1797238111AB}"/>
              </a:ext>
            </a:extLst>
          </p:cNvPr>
          <p:cNvSpPr/>
          <p:nvPr userDrawn="1"/>
        </p:nvSpPr>
        <p:spPr>
          <a:xfrm>
            <a:off x="792000" y="3641768"/>
            <a:ext cx="7560000" cy="72000"/>
          </a:xfrm>
          <a:prstGeom prst="rect">
            <a:avLst/>
          </a:prstGeom>
          <a:gradFill>
            <a:gsLst>
              <a:gs pos="10000">
                <a:srgbClr val="002452">
                  <a:alpha val="98000"/>
                </a:srgbClr>
              </a:gs>
              <a:gs pos="90000">
                <a:srgbClr val="002452">
                  <a:alpha val="55000"/>
                </a:srgbClr>
              </a:gs>
              <a:gs pos="60000">
                <a:srgbClr val="002452">
                  <a:alpha val="76000"/>
                </a:srgbClr>
              </a:gs>
            </a:gsLst>
            <a:lin ang="3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04" tIns="34254" rIns="68504" bIns="34254" rtlCol="0" anchor="ctr"/>
          <a:lstStyle/>
          <a:p>
            <a:pPr algn="ctr"/>
            <a:endParaRPr lang="en-US" sz="1350" dirty="0">
              <a:solidFill>
                <a:schemeClr val="accent2"/>
              </a:solidFill>
              <a:latin typeface="La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5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/>
          <p:nvPr userDrawn="1"/>
        </p:nvSpPr>
        <p:spPr>
          <a:xfrm>
            <a:off x="3989611" y="1156304"/>
            <a:ext cx="1164779" cy="91437"/>
          </a:xfrm>
          <a:prstGeom prst="rect">
            <a:avLst/>
          </a:prstGeom>
          <a:gradFill>
            <a:gsLst>
              <a:gs pos="0">
                <a:srgbClr val="002452">
                  <a:alpha val="98000"/>
                </a:srgbClr>
              </a:gs>
              <a:gs pos="80000">
                <a:srgbClr val="002452">
                  <a:alpha val="60000"/>
                </a:srgbClr>
              </a:gs>
            </a:gsLst>
            <a:lin ang="3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04" tIns="34254" rIns="68504" bIns="34254" rtlCol="0" anchor="ctr"/>
          <a:lstStyle/>
          <a:p>
            <a:pPr algn="ctr"/>
            <a:endParaRPr lang="en-US" sz="1350" dirty="0">
              <a:solidFill>
                <a:schemeClr val="accent2"/>
              </a:solidFill>
              <a:latin typeface="Lato Light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1520135"/>
            <a:ext cx="8640000" cy="4836216"/>
          </a:xfrm>
        </p:spPr>
        <p:txBody>
          <a:bodyPr/>
          <a:lstStyle>
            <a:lvl1pPr marL="342900" indent="-342900">
              <a:buFont typeface="+mj-lt"/>
              <a:buAutoNum type="arabicPeriod"/>
              <a:defRPr sz="2400" baseline="0">
                <a:solidFill>
                  <a:srgbClr val="3D3D3D"/>
                </a:solidFill>
                <a:latin typeface="+mn-lt"/>
              </a:defRPr>
            </a:lvl1pPr>
            <a:lvl2pPr marL="685800" marR="0" indent="-342900" algn="l" defTabSz="685800" rtl="0" eaLnBrk="1" fontAlgn="auto" latinLnBrk="1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 sz="2000" baseline="0">
                <a:solidFill>
                  <a:srgbClr val="3D3D3D"/>
                </a:solidFill>
                <a:latin typeface="+mn-lt"/>
              </a:defRPr>
            </a:lvl2pPr>
            <a:lvl3pPr marL="942975" indent="-257175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altLang="ko-KR" dirty="0"/>
              <a:t>First contents</a:t>
            </a:r>
            <a:endParaRPr lang="ko-KR" altLang="en-US" dirty="0"/>
          </a:p>
          <a:p>
            <a:pPr lvl="1"/>
            <a:r>
              <a:rPr lang="en-US" altLang="ko-KR" dirty="0"/>
              <a:t>Inner contents</a:t>
            </a:r>
          </a:p>
          <a:p>
            <a:pPr marL="685800" marR="0" lvl="1" indent="-342900" algn="l" defTabSz="685800" rtl="0" eaLnBrk="1" fontAlgn="auto" latinLnBrk="1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altLang="ko-KR" dirty="0"/>
              <a:t>Inner contents</a:t>
            </a:r>
          </a:p>
          <a:p>
            <a:pPr marL="685800" marR="0" lvl="1" indent="-342900" algn="l" defTabSz="685800" rtl="0" eaLnBrk="1" fontAlgn="auto" latinLnBrk="1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lang="ko-KR" altLang="en-US" dirty="0"/>
          </a:p>
          <a:p>
            <a:pPr lvl="0"/>
            <a:r>
              <a:rPr lang="en-US" altLang="ko-KR" dirty="0"/>
              <a:t>Second</a:t>
            </a:r>
            <a:endParaRPr lang="ko-KR" altLang="en-US" dirty="0"/>
          </a:p>
          <a:p>
            <a:pPr lvl="1"/>
            <a:r>
              <a:rPr lang="en-US" altLang="ko-KR" dirty="0"/>
              <a:t>Inner contents</a:t>
            </a:r>
          </a:p>
          <a:p>
            <a:pPr marL="685800" marR="0" lvl="1" indent="-342900" algn="l" defTabSz="685800" rtl="0" eaLnBrk="1" fontAlgn="auto" latinLnBrk="1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altLang="ko-KR" dirty="0"/>
              <a:t>Inner contents</a:t>
            </a:r>
            <a:endParaRPr lang="ko-KR" altLang="en-US" dirty="0"/>
          </a:p>
          <a:p>
            <a:pPr lvl="1"/>
            <a:endParaRPr lang="en-US" altLang="ko-KR" dirty="0"/>
          </a:p>
          <a:p>
            <a:pPr lvl="0"/>
            <a:r>
              <a:rPr lang="en-US" altLang="ko-KR" dirty="0"/>
              <a:t>Third</a:t>
            </a:r>
            <a:endParaRPr lang="ko-KR" altLang="en-US" dirty="0"/>
          </a:p>
          <a:p>
            <a:pPr lvl="1"/>
            <a:r>
              <a:rPr lang="en-US" altLang="ko-KR" dirty="0"/>
              <a:t>Inner contents</a:t>
            </a:r>
          </a:p>
          <a:p>
            <a:pPr marL="685800" marR="0" lvl="1" indent="-342900" algn="l" defTabSz="685800" rtl="0" eaLnBrk="1" fontAlgn="auto" latinLnBrk="1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altLang="ko-KR" dirty="0"/>
              <a:t>Inner contents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3571875" y="299136"/>
            <a:ext cx="200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+mn-lt"/>
                <a:ea typeface="+mn-ea"/>
                <a:cs typeface="+mj-cs"/>
              </a:rPr>
              <a:t>Contents</a:t>
            </a:r>
            <a:endParaRPr lang="ko-KR" altLang="en-US" sz="2000" dirty="0">
              <a:solidFill>
                <a:srgbClr val="3D3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69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7250537" y="5036949"/>
            <a:ext cx="1557439" cy="755326"/>
          </a:xfrm>
        </p:spPr>
        <p:txBody>
          <a:bodyPr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altLang="ko-KR" sz="1500" b="1" baseline="0" smtClean="0">
                <a:solidFill>
                  <a:srgbClr val="3D3D3D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algn="r"/>
            <a:r>
              <a:rPr lang="en-US" altLang="ko-KR" sz="1800" b="0" dirty="0">
                <a:solidFill>
                  <a:srgbClr val="3E3E3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Hyeryung Jang</a:t>
            </a:r>
            <a:endParaRPr lang="en-US" altLang="ko-KR" sz="1500" b="0" dirty="0">
              <a:solidFill>
                <a:srgbClr val="F14B09"/>
              </a:solidFill>
              <a:latin typeface="+mn-lt"/>
              <a:cs typeface="Calibri Light" panose="020F0302020204030204" pitchFamily="34" charset="0"/>
            </a:endParaRPr>
          </a:p>
          <a:p>
            <a:pPr algn="r"/>
            <a:r>
              <a:rPr lang="en-US" altLang="ko-KR" sz="1800" b="0" dirty="0"/>
              <a:t>Basic info</a:t>
            </a:r>
            <a:endParaRPr lang="ko-KR" altLang="en-US" sz="1800" b="0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40378" y="2699684"/>
            <a:ext cx="8250763" cy="639082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rgbClr val="3D3D3D"/>
                </a:solidFill>
              </a:defRPr>
            </a:lvl1pPr>
          </a:lstStyle>
          <a:p>
            <a:r>
              <a:rPr lang="en-US" altLang="ko-KR" dirty="0"/>
              <a:t>Section Title</a:t>
            </a:r>
            <a:endParaRPr lang="ko-KR" altLang="en-US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7DDA003-26AF-D042-BAEA-7145ECA5492A}"/>
              </a:ext>
            </a:extLst>
          </p:cNvPr>
          <p:cNvSpPr/>
          <p:nvPr userDrawn="1"/>
        </p:nvSpPr>
        <p:spPr>
          <a:xfrm>
            <a:off x="792000" y="3641768"/>
            <a:ext cx="7560000" cy="72000"/>
          </a:xfrm>
          <a:prstGeom prst="rect">
            <a:avLst/>
          </a:prstGeom>
          <a:gradFill>
            <a:gsLst>
              <a:gs pos="10000">
                <a:srgbClr val="002452">
                  <a:alpha val="98000"/>
                </a:srgbClr>
              </a:gs>
              <a:gs pos="90000">
                <a:srgbClr val="002452">
                  <a:alpha val="55000"/>
                </a:srgbClr>
              </a:gs>
              <a:gs pos="60000">
                <a:srgbClr val="002452">
                  <a:alpha val="76000"/>
                </a:srgbClr>
              </a:gs>
            </a:gsLst>
            <a:lin ang="3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04" tIns="34254" rIns="68504" bIns="34254" rtlCol="0" anchor="ctr"/>
          <a:lstStyle/>
          <a:p>
            <a:pPr algn="ctr"/>
            <a:endParaRPr lang="en-US" sz="1350" dirty="0">
              <a:solidFill>
                <a:schemeClr val="accent2"/>
              </a:solidFill>
              <a:latin typeface="Lat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702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 userDrawn="1"/>
        </p:nvSpPr>
        <p:spPr>
          <a:xfrm>
            <a:off x="0" y="-29291"/>
            <a:ext cx="9156480" cy="6869149"/>
          </a:xfrm>
          <a:prstGeom prst="rect">
            <a:avLst/>
          </a:prstGeom>
          <a:gradFill flip="none" rotWithShape="0">
            <a:gsLst>
              <a:gs pos="0">
                <a:srgbClr val="002452">
                  <a:alpha val="98000"/>
                </a:srgbClr>
              </a:gs>
              <a:gs pos="85000">
                <a:srgbClr val="002452">
                  <a:alpha val="70000"/>
                </a:srgbClr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/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3094563" y="2541858"/>
            <a:ext cx="2967357" cy="1814242"/>
            <a:chOff x="3950457" y="2541858"/>
            <a:chExt cx="3956476" cy="1814242"/>
          </a:xfrm>
        </p:grpSpPr>
        <p:sp>
          <p:nvSpPr>
            <p:cNvPr id="14" name="Subtitle 2"/>
            <p:cNvSpPr txBox="1">
              <a:spLocks/>
            </p:cNvSpPr>
            <p:nvPr userDrawn="1"/>
          </p:nvSpPr>
          <p:spPr>
            <a:xfrm>
              <a:off x="3950457" y="3345708"/>
              <a:ext cx="3956476" cy="983349"/>
            </a:xfrm>
            <a:prstGeom prst="rect">
              <a:avLst/>
            </a:prstGeom>
          </p:spPr>
          <p:txBody>
            <a:bodyPr vert="horz" wrap="none" lIns="217490" tIns="108745" rIns="217490" bIns="108745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030"/>
                </a:lnSpc>
              </a:pPr>
              <a:r>
                <a:rPr lang="en-US" sz="1400" spc="225" dirty="0">
                  <a:solidFill>
                    <a:schemeClr val="bg1"/>
                  </a:solidFill>
                  <a:latin typeface="+mn-lt"/>
                  <a:ea typeface="Lato" charset="0"/>
                  <a:cs typeface="Lato" charset="0"/>
                </a:rPr>
                <a:t>Any Questions?</a:t>
              </a:r>
            </a:p>
            <a:p>
              <a:pPr>
                <a:lnSpc>
                  <a:spcPts val="3030"/>
                </a:lnSpc>
              </a:pPr>
              <a:r>
                <a:rPr lang="en-US" altLang="ko-KR" sz="1400" spc="225" dirty="0" err="1">
                  <a:solidFill>
                    <a:schemeClr val="bg1"/>
                  </a:solidFill>
                  <a:latin typeface="+mn-lt"/>
                  <a:ea typeface="Lato" charset="0"/>
                  <a:cs typeface="Lato" charset="0"/>
                </a:rPr>
                <a:t>hyeryung.jang@dgu.ac.kr</a:t>
              </a:r>
              <a:endParaRPr lang="en-US" sz="1400" spc="225" dirty="0">
                <a:solidFill>
                  <a:schemeClr val="bg1"/>
                </a:solidFill>
                <a:latin typeface="+mn-lt"/>
                <a:ea typeface="Lato" charset="0"/>
                <a:cs typeface="Lato" charset="0"/>
              </a:endParaRPr>
            </a:p>
          </p:txBody>
        </p:sp>
        <p:sp>
          <p:nvSpPr>
            <p:cNvPr id="15" name="TextBox 14"/>
            <p:cNvSpPr txBox="1"/>
            <p:nvPr userDrawn="1"/>
          </p:nvSpPr>
          <p:spPr>
            <a:xfrm>
              <a:off x="4378996" y="2854338"/>
              <a:ext cx="30993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Lato Bold" charset="0"/>
                  <a:ea typeface="Lato Bold" charset="0"/>
                  <a:cs typeface="Lato Bold" charset="0"/>
                </a:rPr>
                <a:t>Thank</a:t>
              </a:r>
              <a:r>
                <a:rPr lang="en-US" sz="3600" b="1" baseline="0" dirty="0">
                  <a:solidFill>
                    <a:schemeClr val="bg1"/>
                  </a:solidFill>
                  <a:latin typeface="Lato Bold" charset="0"/>
                  <a:ea typeface="Lato Bold" charset="0"/>
                  <a:cs typeface="Lato Bold" charset="0"/>
                </a:rPr>
                <a:t> you!</a:t>
              </a:r>
              <a:endParaRPr lang="en-US" sz="3600" b="1" dirty="0">
                <a:solidFill>
                  <a:schemeClr val="bg1"/>
                </a:solidFill>
                <a:latin typeface="Lato Bold" charset="0"/>
                <a:ea typeface="Lato Bold" charset="0"/>
                <a:cs typeface="Lato Bold" charset="0"/>
              </a:endParaRPr>
            </a:p>
          </p:txBody>
        </p:sp>
        <p:grpSp>
          <p:nvGrpSpPr>
            <p:cNvPr id="16" name="Group 13"/>
            <p:cNvGrpSpPr/>
            <p:nvPr userDrawn="1"/>
          </p:nvGrpSpPr>
          <p:grpSpPr>
            <a:xfrm>
              <a:off x="4008785" y="2541858"/>
              <a:ext cx="3839816" cy="1814242"/>
              <a:chOff x="1558925" y="4192858"/>
              <a:chExt cx="9235455" cy="5374888"/>
            </a:xfrm>
          </p:grpSpPr>
          <p:cxnSp>
            <p:nvCxnSpPr>
              <p:cNvPr id="17" name="Straight Connector 15"/>
              <p:cNvCxnSpPr/>
              <p:nvPr/>
            </p:nvCxnSpPr>
            <p:spPr>
              <a:xfrm>
                <a:off x="1558925" y="9567746"/>
                <a:ext cx="9235455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6"/>
              <p:cNvCxnSpPr/>
              <p:nvPr/>
            </p:nvCxnSpPr>
            <p:spPr>
              <a:xfrm>
                <a:off x="1558925" y="4192858"/>
                <a:ext cx="9235455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36574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/>
          <p:nvPr userDrawn="1"/>
        </p:nvSpPr>
        <p:spPr>
          <a:xfrm>
            <a:off x="1" y="1"/>
            <a:ext cx="9151136" cy="6858000"/>
          </a:xfrm>
          <a:prstGeom prst="rect">
            <a:avLst/>
          </a:prstGeom>
          <a:gradFill>
            <a:gsLst>
              <a:gs pos="0">
                <a:srgbClr val="F52552">
                  <a:alpha val="73000"/>
                </a:srgbClr>
              </a:gs>
              <a:gs pos="62000">
                <a:srgbClr val="3B1F4D">
                  <a:alpha val="82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3006593" y="2541858"/>
            <a:ext cx="2879862" cy="1814242"/>
            <a:chOff x="4008785" y="2541858"/>
            <a:chExt cx="3839816" cy="1814242"/>
          </a:xfrm>
        </p:grpSpPr>
        <p:sp>
          <p:nvSpPr>
            <p:cNvPr id="20" name="Subtitle 2"/>
            <p:cNvSpPr txBox="1">
              <a:spLocks/>
            </p:cNvSpPr>
            <p:nvPr userDrawn="1"/>
          </p:nvSpPr>
          <p:spPr>
            <a:xfrm>
              <a:off x="5016554" y="3389253"/>
              <a:ext cx="2026204" cy="604335"/>
            </a:xfrm>
            <a:prstGeom prst="rect">
              <a:avLst/>
            </a:prstGeom>
          </p:spPr>
          <p:txBody>
            <a:bodyPr vert="horz" wrap="none" lIns="217490" tIns="108745" rIns="217490" bIns="108745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030"/>
                </a:lnSpc>
              </a:pPr>
              <a:r>
                <a:rPr lang="en-US" sz="1050" spc="225" dirty="0">
                  <a:solidFill>
                    <a:schemeClr val="bg1"/>
                  </a:solidFill>
                  <a:latin typeface="+mn-lt"/>
                  <a:ea typeface="Lato" charset="0"/>
                  <a:cs typeface="Lato" charset="0"/>
                </a:rPr>
                <a:t>See you Soon</a:t>
              </a:r>
            </a:p>
          </p:txBody>
        </p:sp>
        <p:sp>
          <p:nvSpPr>
            <p:cNvPr id="21" name="TextBox 20"/>
            <p:cNvSpPr txBox="1"/>
            <p:nvPr userDrawn="1"/>
          </p:nvSpPr>
          <p:spPr>
            <a:xfrm>
              <a:off x="4562973" y="2854338"/>
              <a:ext cx="29836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Lato Bold" charset="0"/>
                  <a:ea typeface="Lato Bold" charset="0"/>
                  <a:cs typeface="Lato Bold" charset="0"/>
                </a:rPr>
                <a:t>The break!</a:t>
              </a:r>
            </a:p>
          </p:txBody>
        </p:sp>
        <p:grpSp>
          <p:nvGrpSpPr>
            <p:cNvPr id="22" name="Group 13"/>
            <p:cNvGrpSpPr/>
            <p:nvPr userDrawn="1"/>
          </p:nvGrpSpPr>
          <p:grpSpPr>
            <a:xfrm>
              <a:off x="4008785" y="2541858"/>
              <a:ext cx="3839816" cy="1814242"/>
              <a:chOff x="1558925" y="4192858"/>
              <a:chExt cx="9235455" cy="5374888"/>
            </a:xfrm>
          </p:grpSpPr>
          <p:cxnSp>
            <p:nvCxnSpPr>
              <p:cNvPr id="23" name="Straight Connector 15"/>
              <p:cNvCxnSpPr/>
              <p:nvPr/>
            </p:nvCxnSpPr>
            <p:spPr>
              <a:xfrm>
                <a:off x="1558925" y="9567746"/>
                <a:ext cx="9235455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16"/>
              <p:cNvCxnSpPr/>
              <p:nvPr/>
            </p:nvCxnSpPr>
            <p:spPr>
              <a:xfrm>
                <a:off x="1558925" y="4192858"/>
                <a:ext cx="9235455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96827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48757" y="238125"/>
            <a:ext cx="8640000" cy="649772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3D3D3D"/>
                </a:solidFill>
                <a:latin typeface="+mj-lt"/>
              </a:defRPr>
            </a:lvl1pPr>
          </a:lstStyle>
          <a:p>
            <a:r>
              <a:rPr lang="en-US" altLang="ko-KR" dirty="0"/>
              <a:t>Put title here</a:t>
            </a:r>
            <a:endParaRPr lang="ko-KR" altLang="en-US" dirty="0"/>
          </a:p>
        </p:txBody>
      </p:sp>
      <p:sp>
        <p:nvSpPr>
          <p:cNvPr id="23" name="Oval 7"/>
          <p:cNvSpPr/>
          <p:nvPr userDrawn="1"/>
        </p:nvSpPr>
        <p:spPr>
          <a:xfrm>
            <a:off x="8652210" y="111492"/>
            <a:ext cx="360000" cy="360000"/>
          </a:xfrm>
          <a:prstGeom prst="round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68567" tIns="34283" rIns="68567" bIns="34283" rtlCol="0" anchor="ctr"/>
          <a:lstStyle/>
          <a:p>
            <a:pPr marL="0" marR="0" lvl="0" indent="0" algn="ctr" defTabSz="137122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8" name="텍스트 개체 틀 47"/>
          <p:cNvSpPr>
            <a:spLocks noGrp="1"/>
          </p:cNvSpPr>
          <p:nvPr>
            <p:ph type="body" sz="quarter" idx="10" hasCustomPrompt="1"/>
          </p:nvPr>
        </p:nvSpPr>
        <p:spPr>
          <a:xfrm>
            <a:off x="248757" y="1179443"/>
            <a:ext cx="8640000" cy="5176908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>
                <a:solidFill>
                  <a:srgbClr val="3D3D3D"/>
                </a:solidFill>
                <a:latin typeface="+mn-lt"/>
              </a:defRPr>
            </a:lvl1pPr>
            <a:lvl2pPr>
              <a:lnSpc>
                <a:spcPct val="120000"/>
              </a:lnSpc>
              <a:defRPr sz="1800">
                <a:solidFill>
                  <a:srgbClr val="3D3D3D"/>
                </a:solidFill>
                <a:latin typeface="+mn-lt"/>
              </a:defRPr>
            </a:lvl2pPr>
            <a:lvl3pPr>
              <a:lnSpc>
                <a:spcPct val="120000"/>
              </a:lnSpc>
              <a:defRPr sz="1600">
                <a:solidFill>
                  <a:srgbClr val="3D3D3D"/>
                </a:solidFill>
                <a:latin typeface="+mn-lt"/>
              </a:defRPr>
            </a:lvl3pPr>
            <a:lvl4pPr>
              <a:lnSpc>
                <a:spcPct val="120000"/>
              </a:lnSpc>
              <a:defRPr sz="1600">
                <a:solidFill>
                  <a:srgbClr val="3D3D3D"/>
                </a:solidFill>
                <a:latin typeface="+mn-lt"/>
              </a:defRPr>
            </a:lvl4pPr>
            <a:lvl5pPr>
              <a:lnSpc>
                <a:spcPct val="100000"/>
              </a:lnSpc>
              <a:defRPr sz="1600">
                <a:solidFill>
                  <a:srgbClr val="3D3D3D"/>
                </a:solidFill>
                <a:latin typeface="+mn-lt"/>
              </a:defRPr>
            </a:lvl5pPr>
          </a:lstStyle>
          <a:p>
            <a:pPr lvl="0"/>
            <a:r>
              <a:rPr lang="en-US" altLang="ko-KR" dirty="0"/>
              <a:t>Description</a:t>
            </a:r>
            <a:endParaRPr lang="ko-KR" altLang="en-US" dirty="0"/>
          </a:p>
          <a:p>
            <a:pPr lvl="1"/>
            <a:r>
              <a:rPr lang="en-US" altLang="ko-KR" dirty="0"/>
              <a:t>Description </a:t>
            </a:r>
          </a:p>
          <a:p>
            <a:pPr lvl="2"/>
            <a:r>
              <a:rPr lang="en-US" altLang="ko-KR" dirty="0"/>
              <a:t>Description </a:t>
            </a:r>
          </a:p>
          <a:p>
            <a:pPr lvl="3"/>
            <a:r>
              <a:rPr lang="en-US" altLang="ko-KR" dirty="0"/>
              <a:t>Description </a:t>
            </a:r>
          </a:p>
        </p:txBody>
      </p:sp>
      <p:cxnSp>
        <p:nvCxnSpPr>
          <p:cNvPr id="32" name="직선 연결선 31"/>
          <p:cNvCxnSpPr/>
          <p:nvPr userDrawn="1"/>
        </p:nvCxnSpPr>
        <p:spPr>
          <a:xfrm>
            <a:off x="248757" y="981075"/>
            <a:ext cx="8640000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46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그룹 3">
            <a:extLst>
              <a:ext uri="{FF2B5EF4-FFF2-40B4-BE49-F238E27FC236}">
                <a16:creationId xmlns:a16="http://schemas.microsoft.com/office/drawing/2014/main" id="{27ADF45E-A5F1-D342-BF7F-5649E68FCE89}"/>
              </a:ext>
            </a:extLst>
          </p:cNvPr>
          <p:cNvGrpSpPr/>
          <p:nvPr userDrawn="1"/>
        </p:nvGrpSpPr>
        <p:grpSpPr>
          <a:xfrm>
            <a:off x="-370165" y="355673"/>
            <a:ext cx="183922" cy="2281930"/>
            <a:chOff x="-493553" y="201787"/>
            <a:chExt cx="245229" cy="2761135"/>
          </a:xfrm>
        </p:grpSpPr>
        <p:sp>
          <p:nvSpPr>
            <p:cNvPr id="8" name="타원 20">
              <a:extLst>
                <a:ext uri="{FF2B5EF4-FFF2-40B4-BE49-F238E27FC236}">
                  <a16:creationId xmlns:a16="http://schemas.microsoft.com/office/drawing/2014/main" id="{4786861A-E4BB-0747-8A1C-EF0C2D8ABC64}"/>
                </a:ext>
              </a:extLst>
            </p:cNvPr>
            <p:cNvSpPr/>
            <p:nvPr userDrawn="1"/>
          </p:nvSpPr>
          <p:spPr>
            <a:xfrm rot="5400000">
              <a:off x="-491738" y="199973"/>
              <a:ext cx="241599" cy="245228"/>
            </a:xfrm>
            <a:prstGeom prst="ellipse">
              <a:avLst/>
            </a:prstGeom>
            <a:solidFill>
              <a:schemeClr val="accent1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9" name="타원 21">
              <a:extLst>
                <a:ext uri="{FF2B5EF4-FFF2-40B4-BE49-F238E27FC236}">
                  <a16:creationId xmlns:a16="http://schemas.microsoft.com/office/drawing/2014/main" id="{9131B50A-598B-D64A-B8D8-014828BD334D}"/>
                </a:ext>
              </a:extLst>
            </p:cNvPr>
            <p:cNvSpPr/>
            <p:nvPr userDrawn="1"/>
          </p:nvSpPr>
          <p:spPr>
            <a:xfrm rot="5400000">
              <a:off x="-491738" y="707182"/>
              <a:ext cx="241599" cy="245228"/>
            </a:xfrm>
            <a:prstGeom prst="ellipse">
              <a:avLst/>
            </a:prstGeom>
            <a:solidFill>
              <a:schemeClr val="accent2"/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0" name="타원 22">
              <a:extLst>
                <a:ext uri="{FF2B5EF4-FFF2-40B4-BE49-F238E27FC236}">
                  <a16:creationId xmlns:a16="http://schemas.microsoft.com/office/drawing/2014/main" id="{0DE9C4D0-3F63-AB41-8E37-B9DD87566D23}"/>
                </a:ext>
              </a:extLst>
            </p:cNvPr>
            <p:cNvSpPr/>
            <p:nvPr userDrawn="1"/>
          </p:nvSpPr>
          <p:spPr>
            <a:xfrm rot="5400000">
              <a:off x="-491738" y="1214391"/>
              <a:ext cx="241599" cy="245228"/>
            </a:xfrm>
            <a:prstGeom prst="ellipse">
              <a:avLst/>
            </a:prstGeom>
            <a:solidFill>
              <a:schemeClr val="accent3"/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" name="타원 23">
              <a:extLst>
                <a:ext uri="{FF2B5EF4-FFF2-40B4-BE49-F238E27FC236}">
                  <a16:creationId xmlns:a16="http://schemas.microsoft.com/office/drawing/2014/main" id="{DC64E4D2-E4BC-7A41-8395-DA204D7FF894}"/>
                </a:ext>
              </a:extLst>
            </p:cNvPr>
            <p:cNvSpPr/>
            <p:nvPr userDrawn="1"/>
          </p:nvSpPr>
          <p:spPr>
            <a:xfrm rot="5400000">
              <a:off x="-490543" y="1720404"/>
              <a:ext cx="239208" cy="245228"/>
            </a:xfrm>
            <a:prstGeom prst="ellipse">
              <a:avLst/>
            </a:prstGeom>
            <a:solidFill>
              <a:schemeClr val="accent4"/>
            </a:solidFill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2" name="타원 24">
              <a:extLst>
                <a:ext uri="{FF2B5EF4-FFF2-40B4-BE49-F238E27FC236}">
                  <a16:creationId xmlns:a16="http://schemas.microsoft.com/office/drawing/2014/main" id="{6840EE0E-FA3A-064C-9EEA-87EEB5464647}"/>
                </a:ext>
              </a:extLst>
            </p:cNvPr>
            <p:cNvSpPr/>
            <p:nvPr userDrawn="1"/>
          </p:nvSpPr>
          <p:spPr>
            <a:xfrm rot="5400000">
              <a:off x="-485875" y="2725372"/>
              <a:ext cx="229872" cy="245228"/>
            </a:xfrm>
            <a:prstGeom prst="ellipse">
              <a:avLst/>
            </a:prstGeom>
            <a:solidFill>
              <a:schemeClr val="accent5"/>
            </a:solidFill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3" name="타원 16">
              <a:extLst>
                <a:ext uri="{FF2B5EF4-FFF2-40B4-BE49-F238E27FC236}">
                  <a16:creationId xmlns:a16="http://schemas.microsoft.com/office/drawing/2014/main" id="{04E38AE0-6AD5-E54D-99E7-F463F03E7680}"/>
                </a:ext>
              </a:extLst>
            </p:cNvPr>
            <p:cNvSpPr/>
            <p:nvPr userDrawn="1"/>
          </p:nvSpPr>
          <p:spPr>
            <a:xfrm rot="5400000">
              <a:off x="-490543" y="2225222"/>
              <a:ext cx="239208" cy="245228"/>
            </a:xfrm>
            <a:prstGeom prst="ellipse">
              <a:avLst/>
            </a:prstGeom>
            <a:solidFill>
              <a:srgbClr val="4A7EBD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91927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96" r:id="rId12"/>
    <p:sldLayoutId id="2147483699" r:id="rId13"/>
    <p:sldLayoutId id="2147483697" r:id="rId14"/>
    <p:sldLayoutId id="2147483698" r:id="rId15"/>
    <p:sldLayoutId id="2147483700" r:id="rId16"/>
    <p:sldLayoutId id="2147483674" r:id="rId17"/>
    <p:sldLayoutId id="2147483701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PPG/divByPeak.ipyn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hyperlink" Target="PPG/final.ipynb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B856-24D1-D743-8411-1BF97C3E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PPG </a:t>
            </a:r>
            <a:r>
              <a:rPr lang="ko-KR" altLang="en-US" dirty="0"/>
              <a:t>분류</a:t>
            </a:r>
            <a:r>
              <a:rPr lang="en-US" altLang="ko-KR" dirty="0"/>
              <a:t> </a:t>
            </a:r>
            <a:r>
              <a:rPr lang="ko-KR" altLang="en-US" dirty="0"/>
              <a:t>모델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415E2E-E6C3-0346-ABB9-8C3D2359C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2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00A66D-FFEF-5D9C-C344-3C6D2DF48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2000" y="1838920"/>
            <a:ext cx="8640000" cy="3538623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ko-KR" altLang="en-US" sz="3600" dirty="0" err="1"/>
              <a:t>전처리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endParaRPr lang="en-US" altLang="ko-KR" sz="3600" dirty="0"/>
          </a:p>
          <a:p>
            <a:pPr>
              <a:lnSpc>
                <a:spcPct val="200000"/>
              </a:lnSpc>
            </a:pPr>
            <a:r>
              <a:rPr lang="ko-KR" altLang="en-US" sz="3600" dirty="0"/>
              <a:t>모델 </a:t>
            </a:r>
            <a:endParaRPr lang="en-US" altLang="ko-KR" sz="3600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76064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전처리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5088219"/>
            <a:ext cx="8640000" cy="14510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altLang="ko-KR" dirty="0"/>
          </a:p>
          <a:p>
            <a:r>
              <a:rPr lang="ko-KR" altLang="en-US" sz="4000" dirty="0" err="1"/>
              <a:t>환자별</a:t>
            </a:r>
            <a:r>
              <a:rPr lang="ko-KR" altLang="en-US" sz="4000" dirty="0"/>
              <a:t> 데이터 분류 및 레이블링</a:t>
            </a:r>
            <a:endParaRPr lang="en-US" altLang="ko-KR" sz="4000" dirty="0"/>
          </a:p>
          <a:p>
            <a:pPr marL="0" indent="0">
              <a:buNone/>
            </a:pPr>
            <a:r>
              <a:rPr lang="en-US" altLang="ko-KR" sz="3100" dirty="0"/>
              <a:t>   (</a:t>
            </a:r>
            <a:r>
              <a:rPr lang="ko-KR" altLang="en-US" sz="3100" dirty="0"/>
              <a:t>정상</a:t>
            </a:r>
            <a:r>
              <a:rPr lang="en-US" altLang="ko-KR" sz="3100" dirty="0"/>
              <a:t>:</a:t>
            </a:r>
            <a:r>
              <a:rPr lang="ko-KR" altLang="en-US" sz="3100" dirty="0"/>
              <a:t> </a:t>
            </a:r>
            <a:r>
              <a:rPr lang="en-US" altLang="ko-KR" sz="3100" dirty="0"/>
              <a:t>10 / </a:t>
            </a:r>
            <a:r>
              <a:rPr lang="ko-KR" altLang="en-US" sz="3100" dirty="0"/>
              <a:t>부정맥</a:t>
            </a:r>
            <a:r>
              <a:rPr lang="en-US" altLang="ko-KR" sz="3100" dirty="0"/>
              <a:t>: 10)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BD402F-AB12-4CB0-99C9-539016F53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8" y="1396076"/>
            <a:ext cx="3511874" cy="28884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9BBE74-86D4-4C44-B72F-940953274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731" y="1120462"/>
            <a:ext cx="3825026" cy="392100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7CC7391-9A95-4A9E-BF15-3DCC96978D52}"/>
              </a:ext>
            </a:extLst>
          </p:cNvPr>
          <p:cNvSpPr/>
          <p:nvPr/>
        </p:nvSpPr>
        <p:spPr>
          <a:xfrm>
            <a:off x="4157543" y="2774786"/>
            <a:ext cx="656823" cy="502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292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57" y="103268"/>
            <a:ext cx="8640000" cy="869651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전처리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971823-0E1B-4787-8FE2-1FC97F408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027"/>
            <a:ext cx="2210806" cy="334235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44C9AE7-5EF3-45AF-919D-37AAA231A287}"/>
              </a:ext>
            </a:extLst>
          </p:cNvPr>
          <p:cNvSpPr/>
          <p:nvPr/>
        </p:nvSpPr>
        <p:spPr>
          <a:xfrm>
            <a:off x="1211283" y="1544339"/>
            <a:ext cx="498764" cy="31820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A4474-3CDB-4293-8E25-230C1FDE7A59}"/>
              </a:ext>
            </a:extLst>
          </p:cNvPr>
          <p:cNvSpPr txBox="1"/>
          <p:nvPr/>
        </p:nvSpPr>
        <p:spPr>
          <a:xfrm>
            <a:off x="2306068" y="1334687"/>
            <a:ext cx="705800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lang="ko-KR" altLang="en-US" sz="2400" dirty="0"/>
              <a:t>각 환자의 </a:t>
            </a:r>
            <a:r>
              <a:rPr lang="en-US" altLang="ko-KR" sz="2400" dirty="0"/>
              <a:t>distance </a:t>
            </a:r>
            <a:r>
              <a:rPr lang="ko-KR" altLang="en-US" sz="2400" dirty="0"/>
              <a:t>값 계산</a:t>
            </a:r>
            <a:r>
              <a:rPr lang="en-US" altLang="ko-KR" sz="2400" dirty="0"/>
              <a:t> (peak </a:t>
            </a:r>
            <a:r>
              <a:rPr lang="ko-KR" altLang="en-US" sz="2400" dirty="0"/>
              <a:t>간 최소거리</a:t>
            </a:r>
            <a:r>
              <a:rPr lang="en-US" altLang="ko-KR" sz="2400" dirty="0"/>
              <a:t>)</a:t>
            </a:r>
          </a:p>
          <a:p>
            <a:r>
              <a:rPr lang="en-US" altLang="ko-KR" sz="2000" dirty="0"/>
              <a:t>     · </a:t>
            </a:r>
            <a:r>
              <a:rPr lang="ko-KR" altLang="en-US" sz="2000" dirty="0"/>
              <a:t>각 </a:t>
            </a:r>
            <a:r>
              <a:rPr lang="en-US" altLang="ko-KR" sz="2000" dirty="0"/>
              <a:t>peak</a:t>
            </a:r>
            <a:r>
              <a:rPr lang="ko-KR" altLang="en-US" sz="2000" dirty="0"/>
              <a:t>를 수동으로 마킹</a:t>
            </a:r>
            <a:endParaRPr lang="en-US" altLang="ko-KR" sz="2000" dirty="0"/>
          </a:p>
          <a:p>
            <a:r>
              <a:rPr lang="en-US" altLang="ko-KR" sz="2000" dirty="0"/>
              <a:t>     · </a:t>
            </a:r>
            <a:r>
              <a:rPr lang="ko-KR" altLang="en-US" sz="2000" dirty="0"/>
              <a:t>각 </a:t>
            </a:r>
            <a:r>
              <a:rPr lang="en-US" altLang="ko-KR" sz="2000" dirty="0"/>
              <a:t>peak </a:t>
            </a:r>
            <a:r>
              <a:rPr lang="ko-KR" altLang="en-US" sz="2000" dirty="0"/>
              <a:t>간 거리를 모두 구한 후</a:t>
            </a:r>
            <a:r>
              <a:rPr lang="en-US" altLang="ko-KR" sz="2000" dirty="0"/>
              <a:t>, (A)</a:t>
            </a:r>
          </a:p>
          <a:p>
            <a:r>
              <a:rPr lang="en-US" altLang="ko-KR" sz="2000" dirty="0"/>
              <a:t>       </a:t>
            </a:r>
            <a:r>
              <a:rPr lang="ko-KR" altLang="en-US" sz="2000" dirty="0"/>
              <a:t>그 중 최소값을 해당 환자의 </a:t>
            </a:r>
            <a:r>
              <a:rPr lang="en-US" altLang="ko-KR" sz="2000" dirty="0"/>
              <a:t>distance</a:t>
            </a:r>
            <a:r>
              <a:rPr lang="ko-KR" altLang="en-US" sz="2000" dirty="0"/>
              <a:t>로 설정</a:t>
            </a:r>
            <a:endParaRPr lang="en-US" altLang="ko-KR" sz="2400" dirty="0"/>
          </a:p>
          <a:p>
            <a:r>
              <a:rPr lang="en-US" altLang="ko-KR" sz="2400" dirty="0"/>
              <a:t>     -</a:t>
            </a:r>
            <a:r>
              <a:rPr lang="en-US" altLang="ko-KR" sz="2000" dirty="0"/>
              <a:t>&gt; </a:t>
            </a:r>
            <a:r>
              <a:rPr lang="ko-KR" altLang="en-US" sz="2000" dirty="0"/>
              <a:t>노이즈 등을 </a:t>
            </a:r>
            <a:r>
              <a:rPr lang="en-US" altLang="ko-KR" sz="2000" dirty="0"/>
              <a:t>peak</a:t>
            </a:r>
            <a:r>
              <a:rPr lang="ko-KR" altLang="en-US" sz="2000" dirty="0"/>
              <a:t>로</a:t>
            </a:r>
            <a:r>
              <a:rPr lang="en-US" altLang="ko-KR" sz="2000" dirty="0"/>
              <a:t> </a:t>
            </a:r>
            <a:r>
              <a:rPr lang="ko-KR" altLang="en-US" sz="2000" dirty="0"/>
              <a:t>검출하는 것을 방지하기 위해 필요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2) Distance</a:t>
            </a:r>
            <a:r>
              <a:rPr lang="ko-KR" altLang="en-US" sz="2400" dirty="0"/>
              <a:t>를 임계 값으로 하여 </a:t>
            </a:r>
            <a:r>
              <a:rPr lang="en-US" altLang="ko-KR" sz="2400" dirty="0"/>
              <a:t>peak</a:t>
            </a:r>
            <a:r>
              <a:rPr lang="ko-KR" altLang="en-US" sz="2400" dirty="0"/>
              <a:t> 검출</a:t>
            </a:r>
            <a:endParaRPr lang="en-US" altLang="ko-KR" sz="2400" dirty="0"/>
          </a:p>
          <a:p>
            <a:r>
              <a:rPr lang="en-US" altLang="ko-KR" sz="2400" dirty="0"/>
              <a:t>   </a:t>
            </a:r>
          </a:p>
          <a:p>
            <a:r>
              <a:rPr lang="en-US" altLang="ko-KR" sz="2400" dirty="0"/>
              <a:t>3) </a:t>
            </a:r>
            <a:r>
              <a:rPr lang="ko-KR" altLang="en-US" sz="2400" dirty="0"/>
              <a:t>특정 숫자 범위를 순회하며</a:t>
            </a:r>
            <a:r>
              <a:rPr lang="en-US" altLang="ko-KR" sz="2400" dirty="0"/>
              <a:t>,</a:t>
            </a:r>
          </a:p>
          <a:p>
            <a:r>
              <a:rPr lang="en-US" altLang="ko-KR" sz="2400" dirty="0"/>
              <a:t>    </a:t>
            </a:r>
            <a:r>
              <a:rPr lang="ko-KR" altLang="en-US" sz="2400" dirty="0"/>
              <a:t>각 숫자만큼의 </a:t>
            </a:r>
            <a:r>
              <a:rPr lang="en-US" altLang="ko-KR" sz="2400" dirty="0"/>
              <a:t>peak </a:t>
            </a:r>
            <a:r>
              <a:rPr lang="ko-KR" altLang="en-US" sz="2400" dirty="0"/>
              <a:t>개수가 포함되도록 분할</a:t>
            </a:r>
            <a:endParaRPr lang="en-US" altLang="ko-KR" sz="2400" dirty="0"/>
          </a:p>
          <a:p>
            <a:r>
              <a:rPr lang="en-US" altLang="ko-KR" sz="2400" dirty="0"/>
              <a:t>  </a:t>
            </a:r>
            <a:r>
              <a:rPr lang="en-US" altLang="ko-KR" sz="2000" dirty="0"/>
              <a:t>· </a:t>
            </a:r>
            <a:r>
              <a:rPr lang="ko-KR" altLang="en-US" sz="2000" dirty="0"/>
              <a:t>숫자 범위는 </a:t>
            </a:r>
            <a:r>
              <a:rPr lang="en-US" altLang="ko-KR" sz="2000" dirty="0"/>
              <a:t>A</a:t>
            </a:r>
            <a:r>
              <a:rPr lang="ko-KR" altLang="en-US" sz="2000" dirty="0"/>
              <a:t>의 최솟값</a:t>
            </a:r>
            <a:r>
              <a:rPr lang="en-US" altLang="ko-KR" sz="2000" dirty="0"/>
              <a:t>, </a:t>
            </a:r>
            <a:r>
              <a:rPr lang="ko-KR" altLang="en-US" sz="2000" dirty="0"/>
              <a:t>최댓값을 근거로 계산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400" dirty="0"/>
              <a:t>4) </a:t>
            </a:r>
            <a:r>
              <a:rPr lang="ko-KR" altLang="en-US" sz="2400" dirty="0"/>
              <a:t>최종 </a:t>
            </a:r>
            <a:r>
              <a:rPr lang="en-US" altLang="ko-KR" sz="2400" dirty="0"/>
              <a:t>peak</a:t>
            </a:r>
            <a:r>
              <a:rPr lang="ko-KR" altLang="en-US" sz="2400" dirty="0"/>
              <a:t> 개수 선정</a:t>
            </a:r>
            <a:r>
              <a:rPr lang="en-US" altLang="ko-KR" sz="2400" dirty="0"/>
              <a:t> </a:t>
            </a:r>
          </a:p>
          <a:p>
            <a:r>
              <a:rPr lang="ko-KR" altLang="en-US" sz="2000" dirty="0"/>
              <a:t>  </a:t>
            </a:r>
            <a:r>
              <a:rPr lang="en-US" altLang="ko-KR" sz="2000" dirty="0"/>
              <a:t>· </a:t>
            </a:r>
            <a:r>
              <a:rPr lang="ko-KR" altLang="en-US" sz="2000" dirty="0"/>
              <a:t>각 </a:t>
            </a:r>
            <a:r>
              <a:rPr lang="en-US" altLang="ko-KR" sz="2000" dirty="0"/>
              <a:t>peak </a:t>
            </a:r>
            <a:r>
              <a:rPr lang="ko-KR" altLang="en-US" sz="2000" dirty="0"/>
              <a:t>개수별로 추출된 세그먼트 중 가장 긴 값이</a:t>
            </a:r>
            <a:endParaRPr lang="en-US" altLang="ko-KR" sz="2000" dirty="0"/>
          </a:p>
          <a:p>
            <a:r>
              <a:rPr lang="en-US" altLang="ko-KR" sz="2400" dirty="0"/>
              <a:t>    </a:t>
            </a:r>
            <a:r>
              <a:rPr lang="en-US" altLang="ko-KR" sz="2000" dirty="0"/>
              <a:t>2,000 </a:t>
            </a:r>
            <a:r>
              <a:rPr lang="ko-KR" altLang="en-US" sz="2000" dirty="0"/>
              <a:t>이하 </a:t>
            </a:r>
            <a:r>
              <a:rPr lang="en-US" altLang="ko-KR" sz="2000" dirty="0"/>
              <a:t>&amp;&amp; 2,000</a:t>
            </a:r>
            <a:r>
              <a:rPr lang="ko-KR" altLang="en-US" sz="2000" dirty="0"/>
              <a:t>에 가장 가까운 값인 경우</a:t>
            </a:r>
            <a:endParaRPr lang="en-US" altLang="ko-KR" sz="2000" dirty="0"/>
          </a:p>
          <a:p>
            <a:r>
              <a:rPr lang="en-US" altLang="ko-KR" sz="2400" dirty="0"/>
              <a:t>    </a:t>
            </a:r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82F5C-0B64-30CA-BF93-9825E594CB9A}"/>
              </a:ext>
            </a:extLst>
          </p:cNvPr>
          <p:cNvSpPr txBox="1"/>
          <p:nvPr/>
        </p:nvSpPr>
        <p:spPr>
          <a:xfrm>
            <a:off x="6745185" y="624475"/>
            <a:ext cx="239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checkPeakNum.ipynb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2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전처리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FAEC339-DDF1-493E-A9FE-7743AF283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64477"/>
              </p:ext>
            </p:extLst>
          </p:nvPr>
        </p:nvGraphicFramePr>
        <p:xfrm>
          <a:off x="1390129" y="1538515"/>
          <a:ext cx="6161313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9414">
                  <a:extLst>
                    <a:ext uri="{9D8B030D-6E8A-4147-A177-3AD203B41FA5}">
                      <a16:colId xmlns:a16="http://schemas.microsoft.com/office/drawing/2014/main" val="1569067227"/>
                    </a:ext>
                  </a:extLst>
                </a:gridCol>
                <a:gridCol w="2576672">
                  <a:extLst>
                    <a:ext uri="{9D8B030D-6E8A-4147-A177-3AD203B41FA5}">
                      <a16:colId xmlns:a16="http://schemas.microsoft.com/office/drawing/2014/main" val="3486064945"/>
                    </a:ext>
                  </a:extLst>
                </a:gridCol>
                <a:gridCol w="2645227">
                  <a:extLst>
                    <a:ext uri="{9D8B030D-6E8A-4147-A177-3AD203B41FA5}">
                      <a16:colId xmlns:a16="http://schemas.microsoft.com/office/drawing/2014/main" val="1337030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부정맥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74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17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20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14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12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409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19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20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72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19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16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59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18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14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727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18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11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8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13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09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21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14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372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14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13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87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497FBE"/>
                          </a:solidFill>
                        </a:rPr>
                        <a:t>16</a:t>
                      </a:r>
                      <a:endParaRPr lang="ko-KR" altLang="en-US" b="1" dirty="0">
                        <a:solidFill>
                          <a:srgbClr val="497FBE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ko-KR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597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48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전처리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A4474-3CDB-4293-8E25-230C1FDE7A59}"/>
              </a:ext>
            </a:extLst>
          </p:cNvPr>
          <p:cNvSpPr txBox="1"/>
          <p:nvPr/>
        </p:nvSpPr>
        <p:spPr>
          <a:xfrm>
            <a:off x="2395057" y="1324620"/>
            <a:ext cx="910465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ko-KR" altLang="en-US" sz="2400" dirty="0"/>
              <a:t>각 환자 데이터 로드 및 피크 검출</a:t>
            </a:r>
            <a:endParaRPr lang="en-US" altLang="ko-KR" sz="2400" dirty="0"/>
          </a:p>
          <a:p>
            <a:r>
              <a:rPr lang="en-US" altLang="ko-KR" sz="2400" dirty="0"/>
              <a:t>     · </a:t>
            </a:r>
            <a:r>
              <a:rPr lang="ko-KR" altLang="en-US" sz="2000" dirty="0"/>
              <a:t>데이터 로드 후</a:t>
            </a:r>
            <a:r>
              <a:rPr lang="en-US" altLang="ko-KR" sz="2000" dirty="0"/>
              <a:t>, 3</a:t>
            </a:r>
            <a:r>
              <a:rPr lang="ko-KR" altLang="en-US" sz="2000" dirty="0"/>
              <a:t>차 </a:t>
            </a:r>
            <a:r>
              <a:rPr lang="en-US" altLang="ko-KR" sz="2000" dirty="0"/>
              <a:t>Butterworth </a:t>
            </a:r>
            <a:r>
              <a:rPr lang="ko-KR" altLang="en-US" sz="2000" dirty="0" err="1"/>
              <a:t>저역</a:t>
            </a:r>
            <a:r>
              <a:rPr lang="ko-KR" altLang="en-US" sz="2000" dirty="0"/>
              <a:t> 통과 필터를 적용</a:t>
            </a:r>
            <a:endParaRPr lang="en-US" altLang="ko-KR" sz="2000" dirty="0"/>
          </a:p>
          <a:p>
            <a:r>
              <a:rPr lang="en-US" altLang="ko-KR" sz="2000" dirty="0"/>
              <a:t>        (</a:t>
            </a:r>
            <a:r>
              <a:rPr lang="ko-KR" altLang="en-US" sz="2000" dirty="0"/>
              <a:t>고주파 노이즈 제거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      · Distance</a:t>
            </a:r>
            <a:r>
              <a:rPr lang="ko-KR" altLang="en-US" sz="2000" dirty="0"/>
              <a:t>를 임계 값으로 하여 </a:t>
            </a:r>
            <a:r>
              <a:rPr lang="en-US" altLang="ko-KR" sz="2000" dirty="0"/>
              <a:t>peak</a:t>
            </a:r>
            <a:r>
              <a:rPr lang="ko-KR" altLang="en-US" sz="2000" dirty="0"/>
              <a:t> 검출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400" dirty="0"/>
              <a:t>2) </a:t>
            </a:r>
            <a:r>
              <a:rPr lang="ko-KR" altLang="en-US" sz="2400" dirty="0"/>
              <a:t>최종 </a:t>
            </a:r>
            <a:r>
              <a:rPr lang="en-US" altLang="ko-KR" sz="2400" dirty="0"/>
              <a:t>peak </a:t>
            </a:r>
            <a:r>
              <a:rPr lang="ko-KR" altLang="en-US" sz="2400" dirty="0"/>
              <a:t>개수 단위로 슬라이딩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3) Cubic Interpolation</a:t>
            </a:r>
            <a:r>
              <a:rPr lang="ko-KR" altLang="en-US" sz="2400" dirty="0"/>
              <a:t>을 통해</a:t>
            </a:r>
            <a:r>
              <a:rPr lang="en-US" altLang="ko-KR" sz="2400" dirty="0"/>
              <a:t>,</a:t>
            </a:r>
          </a:p>
          <a:p>
            <a:r>
              <a:rPr lang="en-US" altLang="ko-KR" sz="2400" dirty="0"/>
              <a:t>   </a:t>
            </a:r>
            <a:r>
              <a:rPr lang="ko-KR" altLang="en-US" sz="2400" dirty="0"/>
              <a:t> 각 세그먼트를 고정 길이로 확장 </a:t>
            </a:r>
            <a:r>
              <a:rPr lang="en-US" altLang="ko-KR" sz="2400" dirty="0"/>
              <a:t>(2,000 </a:t>
            </a:r>
            <a:r>
              <a:rPr lang="ko-KR" altLang="en-US" sz="2400" dirty="0"/>
              <a:t>포인트</a:t>
            </a:r>
            <a:r>
              <a:rPr lang="en-US" altLang="ko-KR" sz="2400" dirty="0"/>
              <a:t>)</a:t>
            </a:r>
          </a:p>
          <a:p>
            <a:r>
              <a:rPr lang="en-US" altLang="ko-KR" sz="2000" dirty="0"/>
              <a:t>    · </a:t>
            </a:r>
            <a:r>
              <a:rPr lang="ko-KR" altLang="en-US" sz="2000" dirty="0"/>
              <a:t>데이터를 축소하면서 생기는 정보 손실 </a:t>
            </a:r>
            <a:r>
              <a:rPr lang="en-US" altLang="ko-KR" sz="2000" dirty="0"/>
              <a:t>x</a:t>
            </a:r>
          </a:p>
          <a:p>
            <a:r>
              <a:rPr lang="en-US" altLang="ko-KR" sz="2000" dirty="0"/>
              <a:t>    · </a:t>
            </a:r>
            <a:r>
              <a:rPr lang="ko-KR" altLang="en-US" sz="2000" dirty="0"/>
              <a:t>위상 정보를 보존하면서 규격을 맞추는 데 최적</a:t>
            </a:r>
            <a:endParaRPr lang="en-US" altLang="ko-KR" sz="2000" dirty="0"/>
          </a:p>
          <a:p>
            <a:r>
              <a:rPr lang="en-US" altLang="ko-KR" sz="2000" dirty="0"/>
              <a:t>      (padding </a:t>
            </a:r>
            <a:r>
              <a:rPr lang="ko-KR" altLang="en-US" sz="2000" dirty="0"/>
              <a:t>대비 불필요한 편향 ↓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en-US" altLang="ko-KR" sz="2400" dirty="0"/>
              <a:t>4) </a:t>
            </a:r>
            <a:r>
              <a:rPr lang="ko-KR" altLang="en-US" sz="2400" dirty="0"/>
              <a:t>학습에 즉시 투입 가능한 형태로 구성</a:t>
            </a:r>
            <a:endParaRPr lang="en-US" altLang="ko-KR" sz="2400" dirty="0"/>
          </a:p>
          <a:p>
            <a:r>
              <a:rPr lang="en-US" altLang="ko-KR" sz="2400" dirty="0"/>
              <a:t>   </a:t>
            </a:r>
            <a:r>
              <a:rPr lang="en-US" altLang="ko-KR" sz="2000" dirty="0"/>
              <a:t>· </a:t>
            </a:r>
            <a:r>
              <a:rPr lang="ko-KR" altLang="en-US" sz="2000" dirty="0"/>
              <a:t>균일 규격의 세그먼트들을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npy</a:t>
            </a:r>
            <a:r>
              <a:rPr lang="en-US" altLang="ko-KR" sz="2000" dirty="0"/>
              <a:t> </a:t>
            </a:r>
            <a:r>
              <a:rPr lang="ko-KR" altLang="en-US" sz="2000" dirty="0"/>
              <a:t>파일로 개별 저장</a:t>
            </a:r>
            <a:endParaRPr lang="en-US" altLang="ko-KR" sz="2000" dirty="0"/>
          </a:p>
          <a:p>
            <a:r>
              <a:rPr lang="en-US" altLang="ko-KR" sz="2000" dirty="0"/>
              <a:t>  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DD2140-C185-4570-BA55-B16075E83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172"/>
            <a:ext cx="2146300" cy="295049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0153264-5C62-4D89-9D0F-BDE690F27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7664"/>
            <a:ext cx="2146300" cy="2890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9A14E-CEEF-69E5-3424-C5145BDDCA42}"/>
              </a:ext>
            </a:extLst>
          </p:cNvPr>
          <p:cNvSpPr txBox="1"/>
          <p:nvPr/>
        </p:nvSpPr>
        <p:spPr>
          <a:xfrm>
            <a:off x="7184572" y="603587"/>
            <a:ext cx="2398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divByPeak.ipynb</a:t>
            </a:r>
            <a:endParaRPr lang="ko-KR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3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CEF35-F57A-4661-ABB0-F4858D11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결과 </a:t>
            </a:r>
            <a:r>
              <a:rPr lang="en-US" altLang="ko-KR" dirty="0"/>
              <a:t>(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DECD34-1B5B-488C-8A9A-03A4E675F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AEA00D-6A92-4875-8DA6-F489170B3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43" y="1179442"/>
            <a:ext cx="8640000" cy="517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8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CEF35-F57A-4661-ABB0-F4858D11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결과 </a:t>
            </a:r>
            <a:r>
              <a:rPr lang="en-US" altLang="ko-KR" dirty="0"/>
              <a:t>(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DECD34-1B5B-488C-8A9A-03A4E675F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3A4B72-51F8-485B-8AB5-8E9447F15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7" y="1179443"/>
            <a:ext cx="8640000" cy="517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99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TextBox 3">
            <a:hlinkClick r:id="rId3" action="ppaction://hlinkfile"/>
            <a:extLst>
              <a:ext uri="{FF2B5EF4-FFF2-40B4-BE49-F238E27FC236}">
                <a16:creationId xmlns:a16="http://schemas.microsoft.com/office/drawing/2014/main" id="{471647E4-0645-4B87-ACDE-14EB8F689C33}"/>
              </a:ext>
            </a:extLst>
          </p:cNvPr>
          <p:cNvSpPr txBox="1"/>
          <p:nvPr/>
        </p:nvSpPr>
        <p:spPr>
          <a:xfrm>
            <a:off x="927100" y="2322436"/>
            <a:ext cx="1193800" cy="646331"/>
          </a:xfrm>
          <a:prstGeom prst="rect">
            <a:avLst/>
          </a:prstGeom>
          <a:noFill/>
          <a:ln w="34925">
            <a:solidFill>
              <a:srgbClr val="FFFFFF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hlinkClick r:id="rId4" action="ppaction://hlinkfile"/>
              </a:rPr>
              <a:t>code</a:t>
            </a:r>
            <a:endParaRPr lang="en-US" altLang="ko-KR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A4474-3CDB-4293-8E25-230C1FDE7A59}"/>
              </a:ext>
            </a:extLst>
          </p:cNvPr>
          <p:cNvSpPr txBox="1"/>
          <p:nvPr/>
        </p:nvSpPr>
        <p:spPr>
          <a:xfrm>
            <a:off x="355600" y="4641469"/>
            <a:ext cx="7759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ko-KR" altLang="en-US" sz="2800" dirty="0"/>
              <a:t>아키텍처</a:t>
            </a:r>
            <a:r>
              <a:rPr lang="en-US" altLang="ko-KR" sz="2800" dirty="0"/>
              <a:t>: VGG</a:t>
            </a:r>
          </a:p>
          <a:p>
            <a:pPr marL="457200" indent="-457200">
              <a:buFontTx/>
              <a:buChar char="-"/>
            </a:pPr>
            <a:endParaRPr lang="en-US" altLang="ko-KR" sz="2800" dirty="0"/>
          </a:p>
          <a:p>
            <a:pPr marL="457200" indent="-457200">
              <a:buFontTx/>
              <a:buChar char="-"/>
            </a:pPr>
            <a:r>
              <a:rPr lang="ko-KR" altLang="en-US" sz="2800" dirty="0"/>
              <a:t>라이브러리</a:t>
            </a:r>
            <a:r>
              <a:rPr lang="en-US" altLang="ko-KR" sz="2800" dirty="0"/>
              <a:t>: </a:t>
            </a:r>
            <a:r>
              <a:rPr lang="en-US" altLang="ko-KR" sz="2800" dirty="0" err="1"/>
              <a:t>tensorflow</a:t>
            </a:r>
            <a:endParaRPr lang="en-US" altLang="ko-KR" sz="2800" dirty="0"/>
          </a:p>
          <a:p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427655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4EEEA7-28D4-4055-B82D-7F8A4F855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641"/>
            <a:ext cx="9144000" cy="4312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DA6ABA-AA31-426C-81AA-9F23334ECBD0}"/>
              </a:ext>
            </a:extLst>
          </p:cNvPr>
          <p:cNvSpPr txBox="1"/>
          <p:nvPr/>
        </p:nvSpPr>
        <p:spPr>
          <a:xfrm>
            <a:off x="283026" y="5585359"/>
            <a:ext cx="88609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 </a:t>
            </a:r>
            <a:r>
              <a:rPr lang="en-US" altLang="ko-KR" sz="3600" b="1" dirty="0" err="1"/>
              <a:t>ReduceLROnPlateau</a:t>
            </a:r>
            <a:r>
              <a:rPr lang="en-US" altLang="ko-KR" sz="3600" dirty="0"/>
              <a:t>: </a:t>
            </a:r>
            <a:r>
              <a:rPr lang="ko-KR" altLang="en-US" sz="3200" dirty="0"/>
              <a:t>미세조정을 통한                                                                                               </a:t>
            </a:r>
            <a:endParaRPr lang="en-US" altLang="ko-KR" sz="3200" dirty="0"/>
          </a:p>
          <a:p>
            <a:r>
              <a:rPr lang="en-US" altLang="ko-KR" sz="3200" dirty="0"/>
              <a:t>                                              </a:t>
            </a:r>
            <a:r>
              <a:rPr lang="ko-KR" altLang="en-US" sz="3200" dirty="0"/>
              <a:t>최적화 도움</a:t>
            </a:r>
          </a:p>
          <a:p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5532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</a:t>
            </a:r>
            <a:r>
              <a:rPr lang="en-US" altLang="ko-KR" dirty="0"/>
              <a:t>(</a:t>
            </a:r>
            <a:r>
              <a:rPr lang="en-US" altLang="ko-KR" dirty="0" err="1"/>
              <a:t>ReduceLROnPlateau</a:t>
            </a:r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793991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053284-CD96-4D96-9DFC-553A0298E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7666"/>
            <a:ext cx="9144000" cy="440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3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4EEEA7-28D4-4055-B82D-7F8A4F855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641"/>
            <a:ext cx="9144000" cy="4312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6DD768-C982-429A-A655-966C0E6EBF6C}"/>
              </a:ext>
            </a:extLst>
          </p:cNvPr>
          <p:cNvSpPr txBox="1"/>
          <p:nvPr/>
        </p:nvSpPr>
        <p:spPr>
          <a:xfrm>
            <a:off x="255243" y="5744756"/>
            <a:ext cx="5061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 </a:t>
            </a:r>
            <a:r>
              <a:rPr lang="en-US" altLang="ko-KR" sz="3600" b="1" dirty="0"/>
              <a:t>L2 </a:t>
            </a:r>
            <a:r>
              <a:rPr lang="ko-KR" altLang="en-US" sz="3600" b="1" dirty="0"/>
              <a:t>정규화</a:t>
            </a:r>
            <a:r>
              <a:rPr lang="en-US" altLang="ko-KR" sz="3600" dirty="0"/>
              <a:t>: </a:t>
            </a:r>
            <a:r>
              <a:rPr lang="ko-KR" altLang="en-US" sz="3600" dirty="0" err="1"/>
              <a:t>과적합</a:t>
            </a:r>
            <a:r>
              <a:rPr lang="ko-KR" altLang="en-US" sz="3600" dirty="0"/>
              <a:t> 방지</a:t>
            </a:r>
          </a:p>
          <a:p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8177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</a:t>
            </a:r>
            <a:r>
              <a:rPr lang="en-US" altLang="ko-KR" dirty="0"/>
              <a:t>(L2 </a:t>
            </a:r>
            <a:r>
              <a:rPr lang="ko-KR" altLang="en-US" dirty="0"/>
              <a:t>정규화 제거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4812E8-419B-440A-BFB7-CC9895854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503"/>
            <a:ext cx="9144000" cy="436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0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4EEEA7-28D4-4055-B82D-7F8A4F855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641"/>
            <a:ext cx="9144000" cy="4312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31B1CB-4456-42ED-A706-D6E45F73D839}"/>
              </a:ext>
            </a:extLst>
          </p:cNvPr>
          <p:cNvSpPr txBox="1"/>
          <p:nvPr/>
        </p:nvSpPr>
        <p:spPr>
          <a:xfrm>
            <a:off x="255243" y="5766325"/>
            <a:ext cx="7528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 </a:t>
            </a:r>
            <a:r>
              <a:rPr lang="en-US" altLang="ko-KR" sz="3600" b="1" dirty="0"/>
              <a:t>He </a:t>
            </a:r>
            <a:r>
              <a:rPr lang="ko-KR" altLang="en-US" sz="3600" b="1" dirty="0"/>
              <a:t>초기화</a:t>
            </a:r>
            <a:r>
              <a:rPr lang="en-US" altLang="ko-KR" sz="3600" dirty="0"/>
              <a:t>: Gradient vanishing  </a:t>
            </a:r>
            <a:r>
              <a:rPr lang="ko-KR" altLang="en-US" sz="3600" dirty="0"/>
              <a:t>방지</a:t>
            </a:r>
          </a:p>
        </p:txBody>
      </p:sp>
    </p:spTree>
    <p:extLst>
      <p:ext uri="{BB962C8B-B14F-4D97-AF65-F5344CB8AC3E}">
        <p14:creationId xmlns:p14="http://schemas.microsoft.com/office/powerpoint/2010/main" val="2361222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</a:t>
            </a:r>
            <a:r>
              <a:rPr lang="en-US" altLang="ko-KR" dirty="0"/>
              <a:t>(He </a:t>
            </a:r>
            <a:r>
              <a:rPr lang="ko-KR" altLang="en-US" dirty="0"/>
              <a:t>초기화 제거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EC62F3-4103-48F2-9318-6442E6955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2131"/>
            <a:ext cx="9144000" cy="441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3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4EEEA7-28D4-4055-B82D-7F8A4F855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641"/>
            <a:ext cx="9144000" cy="4312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E500AF-DB99-4EC8-8ABD-8C9F925C9144}"/>
              </a:ext>
            </a:extLst>
          </p:cNvPr>
          <p:cNvSpPr txBox="1"/>
          <p:nvPr/>
        </p:nvSpPr>
        <p:spPr>
          <a:xfrm>
            <a:off x="255243" y="5755793"/>
            <a:ext cx="8123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 </a:t>
            </a:r>
            <a:r>
              <a:rPr lang="en-US" altLang="ko-KR" sz="3600" b="1" dirty="0"/>
              <a:t>Batch Normalization</a:t>
            </a:r>
            <a:r>
              <a:rPr lang="en-US" altLang="ko-KR" sz="3600" dirty="0"/>
              <a:t>:  </a:t>
            </a:r>
            <a:r>
              <a:rPr lang="ko-KR" altLang="en-US" sz="3600" dirty="0"/>
              <a:t>학습 안정성 증가</a:t>
            </a:r>
          </a:p>
        </p:txBody>
      </p:sp>
    </p:spTree>
    <p:extLst>
      <p:ext uri="{BB962C8B-B14F-4D97-AF65-F5344CB8AC3E}">
        <p14:creationId xmlns:p14="http://schemas.microsoft.com/office/powerpoint/2010/main" val="1002307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 </a:t>
            </a:r>
            <a:r>
              <a:rPr lang="en-US" altLang="ko-KR" dirty="0"/>
              <a:t>(Batch Normalization</a:t>
            </a:r>
            <a:r>
              <a:rPr lang="ko-KR" altLang="en-US" dirty="0"/>
              <a:t> 제거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942758-85DE-4C57-A91A-93CCEAB60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643"/>
            <a:ext cx="9144000" cy="42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2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E32FF-1181-4E07-B0DD-C8ECD181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2E3AA3-E998-4DE3-A8F0-AA3D03CB0E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9C802C-EFF7-4EEE-86B6-9B7973613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7" y="1179443"/>
            <a:ext cx="5993157" cy="3055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70A998-D0B5-4E74-9D14-AD82C6FB2921}"/>
              </a:ext>
            </a:extLst>
          </p:cNvPr>
          <p:cNvSpPr txBox="1"/>
          <p:nvPr/>
        </p:nvSpPr>
        <p:spPr>
          <a:xfrm>
            <a:off x="255242" y="4526089"/>
            <a:ext cx="84206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- </a:t>
            </a:r>
            <a:r>
              <a:rPr lang="en-US" altLang="ko-KR" sz="2800" b="1" dirty="0"/>
              <a:t>PPG</a:t>
            </a:r>
            <a:r>
              <a:rPr lang="ko-KR" altLang="en-US" sz="2800" b="1" dirty="0"/>
              <a:t> 데이터의 특성 </a:t>
            </a:r>
            <a:r>
              <a:rPr lang="en-US" altLang="ko-KR" sz="2400" dirty="0"/>
              <a:t>(</a:t>
            </a:r>
            <a:r>
              <a:rPr lang="ko-KR" altLang="en-US" sz="2400" dirty="0"/>
              <a:t>불규칙</a:t>
            </a:r>
            <a:r>
              <a:rPr lang="en-US" altLang="ko-KR" sz="2400" dirty="0"/>
              <a:t>) </a:t>
            </a:r>
          </a:p>
          <a:p>
            <a:r>
              <a:rPr lang="en-US" altLang="ko-KR" sz="2800" dirty="0"/>
              <a:t>  </a:t>
            </a:r>
            <a:r>
              <a:rPr lang="en-US" altLang="ko-KR" sz="2400" dirty="0"/>
              <a:t>&lt;-&gt; B.N </a:t>
            </a:r>
            <a:r>
              <a:rPr lang="ko-KR" altLang="en-US" sz="2400" dirty="0"/>
              <a:t>은 데이터를 정규분포 형태로 바꾸려는 특성</a:t>
            </a:r>
            <a:endParaRPr lang="en-US" altLang="ko-KR" sz="2400" dirty="0"/>
          </a:p>
          <a:p>
            <a:endParaRPr lang="en-US" altLang="ko-KR" sz="2800" dirty="0"/>
          </a:p>
          <a:p>
            <a:pPr marL="285750" indent="-285750">
              <a:buFontTx/>
              <a:buChar char="-"/>
            </a:pPr>
            <a:r>
              <a:rPr lang="ko-KR" altLang="en-US" sz="2800" b="1" dirty="0"/>
              <a:t>정규화가 이미 많음 </a:t>
            </a:r>
            <a:r>
              <a:rPr lang="en-US" altLang="ko-KR" sz="2400" dirty="0"/>
              <a:t>(L2 </a:t>
            </a:r>
            <a:r>
              <a:rPr lang="ko-KR" altLang="en-US" sz="2400" dirty="0"/>
              <a:t>정규화</a:t>
            </a:r>
            <a:r>
              <a:rPr lang="en-US" altLang="ko-KR" sz="2400" dirty="0"/>
              <a:t>, He </a:t>
            </a:r>
            <a:r>
              <a:rPr lang="ko-KR" altLang="en-US" sz="2400" dirty="0"/>
              <a:t>초기화</a:t>
            </a:r>
            <a:r>
              <a:rPr lang="en-US" altLang="ko-KR" sz="2400" dirty="0"/>
              <a:t>)</a:t>
            </a:r>
          </a:p>
          <a:p>
            <a:r>
              <a:rPr lang="en-US" altLang="ko-KR" sz="2800" dirty="0"/>
              <a:t>    </a:t>
            </a:r>
            <a:r>
              <a:rPr lang="en-US" altLang="ko-KR" sz="2400" dirty="0"/>
              <a:t>-&gt; </a:t>
            </a:r>
            <a:r>
              <a:rPr lang="ko-KR" altLang="en-US" sz="2400" dirty="0"/>
              <a:t>모델 학습에 지나치게 엄격해져 성능↓</a:t>
            </a:r>
          </a:p>
        </p:txBody>
      </p:sp>
    </p:spTree>
    <p:extLst>
      <p:ext uri="{BB962C8B-B14F-4D97-AF65-F5344CB8AC3E}">
        <p14:creationId xmlns:p14="http://schemas.microsoft.com/office/powerpoint/2010/main" val="838405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B9BB-35AD-6BBA-E059-4CE92461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최적의 모델  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6E45-7816-C8A4-5A75-118B8B7BA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8757" y="4212398"/>
            <a:ext cx="8640000" cy="1672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942758-85DE-4C57-A91A-93CCEAB60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643"/>
            <a:ext cx="9144000" cy="42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426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Custom 1">
      <a:dk1>
        <a:srgbClr val="445368"/>
      </a:dk1>
      <a:lt1>
        <a:srgbClr val="FFFFFF"/>
      </a:lt1>
      <a:dk2>
        <a:srgbClr val="445368"/>
      </a:dk2>
      <a:lt2>
        <a:srgbClr val="E3DED1"/>
      </a:lt2>
      <a:accent1>
        <a:srgbClr val="1EA084"/>
      </a:accent1>
      <a:accent2>
        <a:srgbClr val="9BBB5C"/>
      </a:accent2>
      <a:accent3>
        <a:srgbClr val="F19B25"/>
      </a:accent3>
      <a:accent4>
        <a:srgbClr val="BD382F"/>
      </a:accent4>
      <a:accent5>
        <a:srgbClr val="445368"/>
      </a:accent5>
      <a:accent6>
        <a:srgbClr val="445368"/>
      </a:accent6>
      <a:hlink>
        <a:srgbClr val="F33A48"/>
      </a:hlink>
      <a:folHlink>
        <a:srgbClr val="FFBF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{AD658F55-686D-BD46-926E-FF0910FEF7A6}tf16401378</Template>
  <TotalTime>55795</TotalTime>
  <Words>474</Words>
  <Application>Microsoft Office PowerPoint</Application>
  <PresentationFormat>화면 슬라이드 쇼(4:3)</PresentationFormat>
  <Paragraphs>137</Paragraphs>
  <Slides>19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Lato Bold</vt:lpstr>
      <vt:lpstr>맑은 고딕</vt:lpstr>
      <vt:lpstr>Arial</vt:lpstr>
      <vt:lpstr>Calibri</vt:lpstr>
      <vt:lpstr>Lato Light</vt:lpstr>
      <vt:lpstr>디자인 사용자 지정</vt:lpstr>
      <vt:lpstr>PPG 분류 모델</vt:lpstr>
      <vt:lpstr>PowerPoint 프레젠테이션</vt:lpstr>
      <vt:lpstr>1. 전처리</vt:lpstr>
      <vt:lpstr>1. 전처리</vt:lpstr>
      <vt:lpstr>1. 전처리</vt:lpstr>
      <vt:lpstr>1. 전처리</vt:lpstr>
      <vt:lpstr>1. 결과 (데이터 전처리 전)</vt:lpstr>
      <vt:lpstr>1. 결과 (데이터 전처리 후)</vt:lpstr>
      <vt:lpstr>2. 모델 </vt:lpstr>
      <vt:lpstr>2. 모델(기존)  </vt:lpstr>
      <vt:lpstr>2. 모델 (ReduceLROnPlateau 제거) </vt:lpstr>
      <vt:lpstr>2. 모델(기존)  </vt:lpstr>
      <vt:lpstr>2. 모델 (L2 정규화 제거) </vt:lpstr>
      <vt:lpstr>2. 모델(기존)  </vt:lpstr>
      <vt:lpstr>2. 모델 (He 초기화 제거) </vt:lpstr>
      <vt:lpstr>2. 모델(기존)  </vt:lpstr>
      <vt:lpstr>2. 모델 (Batch Normalization 제거) </vt:lpstr>
      <vt:lpstr>2. 모델</vt:lpstr>
      <vt:lpstr>2. 최적의 모델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Windows 사용자</dc:creator>
  <cp:keywords/>
  <dc:description/>
  <cp:lastModifiedBy>장준서/컴퓨터·AI학부</cp:lastModifiedBy>
  <cp:revision>1767</cp:revision>
  <cp:lastPrinted>2023-12-06T16:38:58Z</cp:lastPrinted>
  <dcterms:created xsi:type="dcterms:W3CDTF">2018-02-01T05:36:28Z</dcterms:created>
  <dcterms:modified xsi:type="dcterms:W3CDTF">2026-01-06T00:48:14Z</dcterms:modified>
  <cp:category/>
</cp:coreProperties>
</file>